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A"/>
        </a:solidFill>
      </p:bgPr>
    </p:bg>
    <p:spTree>
      <p:nvGrpSpPr>
        <p:cNvPr id="1" name=""/>
        <p:cNvGrpSpPr/>
        <p:nvPr/>
      </p:nvGrpSpPr>
      <p:grpSpPr>
        <a:xfrm>
          <a:off x="0" y="0"/>
          <a:ext cx="0" cy="0"/>
          <a:chOff x="0" y="0"/>
          <a:chExt cx="0" cy="0"/>
        </a:xfrm>
      </p:grpSpPr>
      <p:sp>
        <p:nvSpPr>
          <p:cNvPr id="2" name="Text 0"/>
          <p:cNvSpPr/>
          <p:nvPr/>
        </p:nvSpPr>
        <p:spPr>
          <a:xfrm>
            <a:off x="685800" y="2651760"/>
            <a:ext cx="105156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NCMS IoT Platform</a:t>
            </a:r>
            <a:endParaRPr lang="en-US" sz="4000" dirty="0"/>
          </a:p>
        </p:txBody>
      </p:sp>
      <p:sp>
        <p:nvSpPr>
          <p:cNvPr id="3" name="Text 1"/>
          <p:cNvSpPr/>
          <p:nvPr/>
        </p:nvSpPr>
        <p:spPr>
          <a:xfrm>
            <a:off x="685800" y="3383280"/>
            <a:ext cx="10515600" cy="502920"/>
          </a:xfrm>
          <a:prstGeom prst="rect">
            <a:avLst/>
          </a:prstGeom>
          <a:noFill/>
          <a:ln/>
        </p:spPr>
        <p:txBody>
          <a:bodyPr wrap="square" lIns="0" tIns="0" rIns="0" bIns="0" rtlCol="0" anchor="ctr"/>
          <a:lstStyle/>
          <a:p>
            <a:pPr indent="0" marL="0">
              <a:buNone/>
            </a:pPr>
            <a:r>
              <a:rPr lang="en-US" sz="2000" dirty="0">
                <a:solidFill>
                  <a:srgbClr val="B9C4D6"/>
                </a:solidFill>
                <a:latin typeface="Calibri" pitchFamily="34" charset="0"/>
                <a:ea typeface="Calibri" pitchFamily="34" charset="-122"/>
                <a:cs typeface="Calibri" pitchFamily="34" charset="-120"/>
              </a:rPr>
              <a:t>Solution Overview</a:t>
            </a:r>
            <a:endParaRPr lang="en-US" sz="2000" dirty="0"/>
          </a:p>
        </p:txBody>
      </p:sp>
      <p:sp>
        <p:nvSpPr>
          <p:cNvPr id="4" name="Text 2"/>
          <p:cNvSpPr/>
          <p:nvPr/>
        </p:nvSpPr>
        <p:spPr>
          <a:xfrm>
            <a:off x="685800" y="5989320"/>
            <a:ext cx="7315200" cy="320040"/>
          </a:xfrm>
          <a:prstGeom prst="rect">
            <a:avLst/>
          </a:prstGeom>
          <a:noFill/>
          <a:ln/>
        </p:spPr>
        <p:txBody>
          <a:bodyPr wrap="square" lIns="0" tIns="0" rIns="0" bIns="0" rtlCol="0" anchor="ctr"/>
          <a:lstStyle/>
          <a:p>
            <a:pPr indent="0" marL="0">
              <a:buNone/>
            </a:pPr>
            <a:r>
              <a:rPr lang="en-US" sz="1100" dirty="0">
                <a:solidFill>
                  <a:srgbClr val="8291AB"/>
                </a:solidFill>
                <a:latin typeface="Calibri" pitchFamily="34" charset="0"/>
                <a:ea typeface="Calibri" pitchFamily="34" charset="-122"/>
                <a:cs typeface="Calibri" pitchFamily="34" charset="-120"/>
              </a:rPr>
              <a:t>Prepared for project handover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515600" cy="548640"/>
          </a:xfrm>
          <a:prstGeom prst="rect">
            <a:avLst/>
          </a:prstGeom>
          <a:noFill/>
          <a:ln/>
        </p:spPr>
        <p:txBody>
          <a:bodyPr wrap="square" lIns="0" tIns="0" rIns="0" bIns="0" rtlCol="0" anchor="ctr"/>
          <a:lstStyle/>
          <a:p>
            <a:pPr indent="0" marL="0">
              <a:buNone/>
            </a:pPr>
            <a:r>
              <a:rPr lang="en-US" sz="2600" b="1" dirty="0">
                <a:solidFill>
                  <a:srgbClr val="2B2B2B"/>
                </a:solidFill>
                <a:latin typeface="Calibri" pitchFamily="34" charset="0"/>
                <a:ea typeface="Calibri" pitchFamily="34" charset="-122"/>
                <a:cs typeface="Calibri" pitchFamily="34" charset="-120"/>
              </a:rPr>
              <a:t>Why NCMS Exists</a:t>
            </a:r>
            <a:endParaRPr lang="en-US" sz="2600" dirty="0"/>
          </a:p>
        </p:txBody>
      </p:sp>
      <p:sp>
        <p:nvSpPr>
          <p:cNvPr id="3" name="Text 1"/>
          <p:cNvSpPr/>
          <p:nvPr/>
        </p:nvSpPr>
        <p:spPr>
          <a:xfrm>
            <a:off x="685800" y="1417320"/>
            <a:ext cx="10515600" cy="1005840"/>
          </a:xfrm>
          <a:prstGeom prst="rect">
            <a:avLst/>
          </a:prstGeom>
          <a:noFill/>
          <a:ln/>
        </p:spPr>
        <p:txBody>
          <a:bodyPr wrap="square" lIns="0" tIns="0" rIns="0" bIns="0" rtlCol="0" anchor="t"/>
          <a:lstStyle/>
          <a:p>
            <a:pPr indent="0" marL="0">
              <a:lnSpc>
                <a:spcPct val="130000"/>
              </a:lnSpc>
              <a:buNone/>
            </a:pPr>
            <a:r>
              <a:rPr lang="en-US" sz="1500" dirty="0">
                <a:solidFill>
                  <a:srgbClr val="2B2B2B"/>
                </a:solidFill>
                <a:latin typeface="Calibri" pitchFamily="34" charset="0"/>
                <a:ea typeface="Calibri" pitchFamily="34" charset="-122"/>
                <a:cs typeface="Calibri" pitchFamily="34" charset="-120"/>
              </a:rPr>
              <a:t>Organizations operating a fleet of connected devices need to know what is deployed, whether it is online, and how to keep it up to date. Doing this manually, device by device, does not scale.</a:t>
            </a:r>
            <a:endParaRPr lang="en-US" sz="1500" dirty="0"/>
          </a:p>
        </p:txBody>
      </p:sp>
      <p:sp>
        <p:nvSpPr>
          <p:cNvPr id="4" name="Text 2"/>
          <p:cNvSpPr/>
          <p:nvPr/>
        </p:nvSpPr>
        <p:spPr>
          <a:xfrm>
            <a:off x="685800" y="2514600"/>
            <a:ext cx="10515600" cy="1005840"/>
          </a:xfrm>
          <a:prstGeom prst="rect">
            <a:avLst/>
          </a:prstGeom>
          <a:noFill/>
          <a:ln/>
        </p:spPr>
        <p:txBody>
          <a:bodyPr wrap="square" lIns="0" tIns="0" rIns="0" bIns="0" rtlCol="0" anchor="t"/>
          <a:lstStyle/>
          <a:p>
            <a:pPr indent="0" marL="0">
              <a:lnSpc>
                <a:spcPct val="130000"/>
              </a:lnSpc>
              <a:buNone/>
            </a:pPr>
            <a:r>
              <a:rPr lang="en-US" sz="1500" dirty="0">
                <a:solidFill>
                  <a:srgbClr val="2B2B2B"/>
                </a:solidFill>
                <a:latin typeface="Calibri" pitchFamily="34" charset="0"/>
                <a:ea typeface="Calibri" pitchFamily="34" charset="-122"/>
                <a:cs typeface="Calibri" pitchFamily="34" charset="-120"/>
              </a:rPr>
              <a:t>NCMS gives your team a single place to register devices, monitor their status, and roll out firmware, application, and configuration updates — reliably, with a full record of activity.</a:t>
            </a:r>
            <a:endParaRPr lang="en-US" sz="1500" dirty="0"/>
          </a:p>
        </p:txBody>
      </p:sp>
      <p:sp>
        <p:nvSpPr>
          <p:cNvPr id="5" name="Shape 3"/>
          <p:cNvSpPr/>
          <p:nvPr/>
        </p:nvSpPr>
        <p:spPr>
          <a:xfrm>
            <a:off x="685800" y="3794760"/>
            <a:ext cx="10817352" cy="0"/>
          </a:xfrm>
          <a:prstGeom prst="line">
            <a:avLst/>
          </a:prstGeom>
          <a:noFill/>
          <a:ln w="9525">
            <a:solidFill>
              <a:srgbClr val="D9D9D9"/>
            </a:solidFill>
            <a:prstDash val="solid"/>
          </a:ln>
        </p:spPr>
      </p:sp>
      <p:sp>
        <p:nvSpPr>
          <p:cNvPr id="6" name="Text 4"/>
          <p:cNvSpPr/>
          <p:nvPr/>
        </p:nvSpPr>
        <p:spPr>
          <a:xfrm>
            <a:off x="685800" y="4114800"/>
            <a:ext cx="3331464" cy="502920"/>
          </a:xfrm>
          <a:prstGeom prst="rect">
            <a:avLst/>
          </a:prstGeom>
          <a:noFill/>
          <a:ln/>
        </p:spPr>
        <p:txBody>
          <a:bodyPr wrap="square" lIns="0" tIns="0" rIns="0" bIns="0" rtlCol="0" anchor="ctr"/>
          <a:lstStyle/>
          <a:p>
            <a:pPr indent="0" marL="0">
              <a:buNone/>
            </a:pPr>
            <a:r>
              <a:rPr lang="en-US" sz="1700" b="1" dirty="0">
                <a:solidFill>
                  <a:srgbClr val="1E2A4A"/>
                </a:solidFill>
                <a:latin typeface="Calibri" pitchFamily="34" charset="0"/>
                <a:ea typeface="Calibri" pitchFamily="34" charset="-122"/>
                <a:cs typeface="Calibri" pitchFamily="34" charset="-120"/>
              </a:rPr>
              <a:t>Fleet-wide visibility</a:t>
            </a:r>
            <a:endParaRPr lang="en-US" sz="1700" dirty="0"/>
          </a:p>
        </p:txBody>
      </p:sp>
      <p:sp>
        <p:nvSpPr>
          <p:cNvPr id="7" name="Text 5"/>
          <p:cNvSpPr/>
          <p:nvPr/>
        </p:nvSpPr>
        <p:spPr>
          <a:xfrm>
            <a:off x="685800" y="4617720"/>
            <a:ext cx="3331464" cy="548640"/>
          </a:xfrm>
          <a:prstGeom prst="rect">
            <a:avLst/>
          </a:prstGeom>
          <a:noFill/>
          <a:ln/>
        </p:spPr>
        <p:txBody>
          <a:bodyPr wrap="square" lIns="0" tIns="0" rIns="0" bIns="0" rtlCol="0" anchor="ctr"/>
          <a:lstStyle/>
          <a:p>
            <a:pPr indent="0" marL="0">
              <a:lnSpc>
                <a:spcPct val="120000"/>
              </a:lnSpc>
              <a:buNone/>
            </a:pPr>
            <a:r>
              <a:rPr lang="en-US" sz="1200" dirty="0">
                <a:solidFill>
                  <a:srgbClr val="6B6B6B"/>
                </a:solidFill>
                <a:latin typeface="Calibri" pitchFamily="34" charset="0"/>
                <a:ea typeface="Calibri" pitchFamily="34" charset="-122"/>
                <a:cs typeface="Calibri" pitchFamily="34" charset="-120"/>
              </a:rPr>
              <a:t>into every registered device</a:t>
            </a:r>
            <a:endParaRPr lang="en-US" sz="1200" dirty="0"/>
          </a:p>
        </p:txBody>
      </p:sp>
      <p:sp>
        <p:nvSpPr>
          <p:cNvPr id="8" name="Text 6"/>
          <p:cNvSpPr/>
          <p:nvPr/>
        </p:nvSpPr>
        <p:spPr>
          <a:xfrm>
            <a:off x="4291584" y="4114800"/>
            <a:ext cx="3331464" cy="502920"/>
          </a:xfrm>
          <a:prstGeom prst="rect">
            <a:avLst/>
          </a:prstGeom>
          <a:noFill/>
          <a:ln/>
        </p:spPr>
        <p:txBody>
          <a:bodyPr wrap="square" lIns="0" tIns="0" rIns="0" bIns="0" rtlCol="0" anchor="ctr"/>
          <a:lstStyle/>
          <a:p>
            <a:pPr indent="0" marL="0">
              <a:buNone/>
            </a:pPr>
            <a:r>
              <a:rPr lang="en-US" sz="1700" b="1" dirty="0">
                <a:solidFill>
                  <a:srgbClr val="1E2A4A"/>
                </a:solidFill>
                <a:latin typeface="Calibri" pitchFamily="34" charset="0"/>
                <a:ea typeface="Calibri" pitchFamily="34" charset="-122"/>
                <a:cs typeface="Calibri" pitchFamily="34" charset="-120"/>
              </a:rPr>
              <a:t>One platform</a:t>
            </a:r>
            <a:endParaRPr lang="en-US" sz="1700" dirty="0"/>
          </a:p>
        </p:txBody>
      </p:sp>
      <p:sp>
        <p:nvSpPr>
          <p:cNvPr id="9" name="Text 7"/>
          <p:cNvSpPr/>
          <p:nvPr/>
        </p:nvSpPr>
        <p:spPr>
          <a:xfrm>
            <a:off x="4291584" y="4617720"/>
            <a:ext cx="3331464" cy="548640"/>
          </a:xfrm>
          <a:prstGeom prst="rect">
            <a:avLst/>
          </a:prstGeom>
          <a:noFill/>
          <a:ln/>
        </p:spPr>
        <p:txBody>
          <a:bodyPr wrap="square" lIns="0" tIns="0" rIns="0" bIns="0" rtlCol="0" anchor="ctr"/>
          <a:lstStyle/>
          <a:p>
            <a:pPr indent="0" marL="0">
              <a:lnSpc>
                <a:spcPct val="120000"/>
              </a:lnSpc>
              <a:buNone/>
            </a:pPr>
            <a:r>
              <a:rPr lang="en-US" sz="1200" dirty="0">
                <a:solidFill>
                  <a:srgbClr val="6B6B6B"/>
                </a:solidFill>
                <a:latin typeface="Calibri" pitchFamily="34" charset="0"/>
                <a:ea typeface="Calibri" pitchFamily="34" charset="-122"/>
                <a:cs typeface="Calibri" pitchFamily="34" charset="-120"/>
              </a:rPr>
              <a:t>for firmware, apps, and configuration</a:t>
            </a:r>
            <a:endParaRPr lang="en-US" sz="1200" dirty="0"/>
          </a:p>
        </p:txBody>
      </p:sp>
      <p:sp>
        <p:nvSpPr>
          <p:cNvPr id="10" name="Text 8"/>
          <p:cNvSpPr/>
          <p:nvPr/>
        </p:nvSpPr>
        <p:spPr>
          <a:xfrm>
            <a:off x="7897368" y="4114800"/>
            <a:ext cx="3331464" cy="502920"/>
          </a:xfrm>
          <a:prstGeom prst="rect">
            <a:avLst/>
          </a:prstGeom>
          <a:noFill/>
          <a:ln/>
        </p:spPr>
        <p:txBody>
          <a:bodyPr wrap="square" lIns="0" tIns="0" rIns="0" bIns="0" rtlCol="0" anchor="ctr"/>
          <a:lstStyle/>
          <a:p>
            <a:pPr indent="0" marL="0">
              <a:buNone/>
            </a:pPr>
            <a:r>
              <a:rPr lang="en-US" sz="1700" b="1" dirty="0">
                <a:solidFill>
                  <a:srgbClr val="1E2A4A"/>
                </a:solidFill>
                <a:latin typeface="Calibri" pitchFamily="34" charset="0"/>
                <a:ea typeface="Calibri" pitchFamily="34" charset="-122"/>
                <a:cs typeface="Calibri" pitchFamily="34" charset="-120"/>
              </a:rPr>
              <a:t>Full audit trail</a:t>
            </a:r>
            <a:endParaRPr lang="en-US" sz="1700" dirty="0"/>
          </a:p>
        </p:txBody>
      </p:sp>
      <p:sp>
        <p:nvSpPr>
          <p:cNvPr id="11" name="Text 9"/>
          <p:cNvSpPr/>
          <p:nvPr/>
        </p:nvSpPr>
        <p:spPr>
          <a:xfrm>
            <a:off x="7897368" y="4617720"/>
            <a:ext cx="3331464" cy="548640"/>
          </a:xfrm>
          <a:prstGeom prst="rect">
            <a:avLst/>
          </a:prstGeom>
          <a:noFill/>
          <a:ln/>
        </p:spPr>
        <p:txBody>
          <a:bodyPr wrap="square" lIns="0" tIns="0" rIns="0" bIns="0" rtlCol="0" anchor="ctr"/>
          <a:lstStyle/>
          <a:p>
            <a:pPr indent="0" marL="0">
              <a:lnSpc>
                <a:spcPct val="120000"/>
              </a:lnSpc>
              <a:buNone/>
            </a:pPr>
            <a:r>
              <a:rPr lang="en-US" sz="1200" dirty="0">
                <a:solidFill>
                  <a:srgbClr val="6B6B6B"/>
                </a:solidFill>
                <a:latin typeface="Calibri" pitchFamily="34" charset="0"/>
                <a:ea typeface="Calibri" pitchFamily="34" charset="-122"/>
                <a:cs typeface="Calibri" pitchFamily="34" charset="-120"/>
              </a:rPr>
              <a:t>of every administrative change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515600" cy="548640"/>
          </a:xfrm>
          <a:prstGeom prst="rect">
            <a:avLst/>
          </a:prstGeom>
          <a:noFill/>
          <a:ln/>
        </p:spPr>
        <p:txBody>
          <a:bodyPr wrap="square" lIns="0" tIns="0" rIns="0" bIns="0" rtlCol="0" anchor="ctr"/>
          <a:lstStyle/>
          <a:p>
            <a:pPr indent="0" marL="0">
              <a:buNone/>
            </a:pPr>
            <a:r>
              <a:rPr lang="en-US" sz="2600" b="1" dirty="0">
                <a:solidFill>
                  <a:srgbClr val="2B2B2B"/>
                </a:solidFill>
                <a:latin typeface="Calibri" pitchFamily="34" charset="0"/>
                <a:ea typeface="Calibri" pitchFamily="34" charset="-122"/>
                <a:cs typeface="Calibri" pitchFamily="34" charset="-120"/>
              </a:rPr>
              <a:t>How the System Fits Together</a:t>
            </a:r>
            <a:endParaRPr lang="en-US" sz="2600" dirty="0"/>
          </a:p>
        </p:txBody>
      </p:sp>
      <p:sp>
        <p:nvSpPr>
          <p:cNvPr id="3" name="Shape 1"/>
          <p:cNvSpPr/>
          <p:nvPr/>
        </p:nvSpPr>
        <p:spPr>
          <a:xfrm>
            <a:off x="685800" y="1737360"/>
            <a:ext cx="2148840" cy="777240"/>
          </a:xfrm>
          <a:prstGeom prst="rect">
            <a:avLst/>
          </a:prstGeom>
          <a:solidFill>
            <a:srgbClr val="F7F7F8"/>
          </a:solidFill>
          <a:ln w="12700">
            <a:solidFill>
              <a:srgbClr val="D9D9D9"/>
            </a:solidFill>
            <a:prstDash val="solid"/>
          </a:ln>
        </p:spPr>
      </p:sp>
      <p:sp>
        <p:nvSpPr>
          <p:cNvPr id="4" name="Text 2"/>
          <p:cNvSpPr/>
          <p:nvPr/>
        </p:nvSpPr>
        <p:spPr>
          <a:xfrm>
            <a:off x="822960" y="1828800"/>
            <a:ext cx="1874520" cy="411480"/>
          </a:xfrm>
          <a:prstGeom prst="rect">
            <a:avLst/>
          </a:prstGeom>
          <a:noFill/>
          <a:ln/>
        </p:spPr>
        <p:txBody>
          <a:bodyPr wrap="square" lIns="0" tIns="0" rIns="0" bIns="0" rtlCol="0" anchor="ctr"/>
          <a:lstStyle/>
          <a:p>
            <a:pPr indent="0" marL="0">
              <a:lnSpc>
                <a:spcPct val="105000"/>
              </a:lnSpc>
              <a:buNone/>
            </a:pPr>
            <a:r>
              <a:rPr lang="en-US" sz="1250" b="1" dirty="0">
                <a:solidFill>
                  <a:srgbClr val="2B2B2B"/>
                </a:solidFill>
                <a:latin typeface="Calibri" pitchFamily="34" charset="0"/>
                <a:ea typeface="Calibri" pitchFamily="34" charset="-122"/>
                <a:cs typeface="Calibri" pitchFamily="34" charset="-120"/>
              </a:rPr>
              <a:t>Users &amp;</a:t>
            </a:r>
            <a:endParaRPr lang="en-US" sz="1250" dirty="0"/>
          </a:p>
          <a:p>
            <a:pPr indent="0" marL="0">
              <a:lnSpc>
                <a:spcPct val="105000"/>
              </a:lnSpc>
              <a:buNone/>
            </a:pPr>
            <a:r>
              <a:rPr lang="en-US" sz="1250" b="1" dirty="0">
                <a:solidFill>
                  <a:srgbClr val="2B2B2B"/>
                </a:solidFill>
                <a:latin typeface="Calibri" pitchFamily="34" charset="0"/>
                <a:ea typeface="Calibri" pitchFamily="34" charset="-122"/>
                <a:cs typeface="Calibri" pitchFamily="34" charset="-120"/>
              </a:rPr>
              <a:t>Administrators</a:t>
            </a:r>
            <a:endParaRPr lang="en-US" sz="1250" dirty="0"/>
          </a:p>
        </p:txBody>
      </p:sp>
      <p:sp>
        <p:nvSpPr>
          <p:cNvPr id="5" name="Text 3"/>
          <p:cNvSpPr/>
          <p:nvPr/>
        </p:nvSpPr>
        <p:spPr>
          <a:xfrm>
            <a:off x="822960" y="2240280"/>
            <a:ext cx="187452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Web browser</a:t>
            </a:r>
            <a:endParaRPr lang="en-US" sz="1000" dirty="0"/>
          </a:p>
        </p:txBody>
      </p:sp>
      <p:sp>
        <p:nvSpPr>
          <p:cNvPr id="6" name="Shape 4"/>
          <p:cNvSpPr/>
          <p:nvPr/>
        </p:nvSpPr>
        <p:spPr>
          <a:xfrm>
            <a:off x="3246120" y="1737360"/>
            <a:ext cx="2148840" cy="777240"/>
          </a:xfrm>
          <a:prstGeom prst="rect">
            <a:avLst/>
          </a:prstGeom>
          <a:solidFill>
            <a:srgbClr val="F7F7F8"/>
          </a:solidFill>
          <a:ln w="12700">
            <a:solidFill>
              <a:srgbClr val="D9D9D9"/>
            </a:solidFill>
            <a:prstDash val="solid"/>
          </a:ln>
        </p:spPr>
      </p:sp>
      <p:sp>
        <p:nvSpPr>
          <p:cNvPr id="7" name="Text 5"/>
          <p:cNvSpPr/>
          <p:nvPr/>
        </p:nvSpPr>
        <p:spPr>
          <a:xfrm>
            <a:off x="3383280" y="1828800"/>
            <a:ext cx="1874520" cy="411480"/>
          </a:xfrm>
          <a:prstGeom prst="rect">
            <a:avLst/>
          </a:prstGeom>
          <a:noFill/>
          <a:ln/>
        </p:spPr>
        <p:txBody>
          <a:bodyPr wrap="square" lIns="0" tIns="0" rIns="0" bIns="0" rtlCol="0" anchor="ctr"/>
          <a:lstStyle/>
          <a:p>
            <a:pPr indent="0" marL="0">
              <a:lnSpc>
                <a:spcPct val="105000"/>
              </a:lnSpc>
              <a:buNone/>
            </a:pPr>
            <a:r>
              <a:rPr lang="en-US" sz="1250" b="1" dirty="0">
                <a:solidFill>
                  <a:srgbClr val="2B2B2B"/>
                </a:solidFill>
                <a:latin typeface="Calibri" pitchFamily="34" charset="0"/>
                <a:ea typeface="Calibri" pitchFamily="34" charset="-122"/>
                <a:cs typeface="Calibri" pitchFamily="34" charset="-120"/>
              </a:rPr>
              <a:t>Reverse Proxy</a:t>
            </a:r>
            <a:endParaRPr lang="en-US" sz="1250" dirty="0"/>
          </a:p>
        </p:txBody>
      </p:sp>
      <p:sp>
        <p:nvSpPr>
          <p:cNvPr id="8" name="Text 6"/>
          <p:cNvSpPr/>
          <p:nvPr/>
        </p:nvSpPr>
        <p:spPr>
          <a:xfrm>
            <a:off x="3383280" y="2194560"/>
            <a:ext cx="187452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Nginx  ·  TLS</a:t>
            </a:r>
            <a:endParaRPr lang="en-US" sz="1000" dirty="0"/>
          </a:p>
        </p:txBody>
      </p:sp>
      <p:sp>
        <p:nvSpPr>
          <p:cNvPr id="9" name="Shape 7"/>
          <p:cNvSpPr/>
          <p:nvPr/>
        </p:nvSpPr>
        <p:spPr>
          <a:xfrm>
            <a:off x="5806440" y="1737360"/>
            <a:ext cx="2377440" cy="777240"/>
          </a:xfrm>
          <a:prstGeom prst="rect">
            <a:avLst/>
          </a:prstGeom>
          <a:solidFill>
            <a:srgbClr val="F7F7F8"/>
          </a:solidFill>
          <a:ln w="12700">
            <a:solidFill>
              <a:srgbClr val="D9D9D9"/>
            </a:solidFill>
            <a:prstDash val="solid"/>
          </a:ln>
        </p:spPr>
      </p:sp>
      <p:sp>
        <p:nvSpPr>
          <p:cNvPr id="10" name="Text 8"/>
          <p:cNvSpPr/>
          <p:nvPr/>
        </p:nvSpPr>
        <p:spPr>
          <a:xfrm>
            <a:off x="5943600" y="1828800"/>
            <a:ext cx="2103120" cy="411480"/>
          </a:xfrm>
          <a:prstGeom prst="rect">
            <a:avLst/>
          </a:prstGeom>
          <a:noFill/>
          <a:ln/>
        </p:spPr>
        <p:txBody>
          <a:bodyPr wrap="square" lIns="0" tIns="0" rIns="0" bIns="0" rtlCol="0" anchor="ctr"/>
          <a:lstStyle/>
          <a:p>
            <a:pPr indent="0" marL="0">
              <a:lnSpc>
                <a:spcPct val="105000"/>
              </a:lnSpc>
              <a:buNone/>
            </a:pPr>
            <a:r>
              <a:rPr lang="en-US" sz="1250" b="1" dirty="0">
                <a:solidFill>
                  <a:srgbClr val="2B2B2B"/>
                </a:solidFill>
                <a:latin typeface="Calibri" pitchFamily="34" charset="0"/>
                <a:ea typeface="Calibri" pitchFamily="34" charset="-122"/>
                <a:cs typeface="Calibri" pitchFamily="34" charset="-120"/>
              </a:rPr>
              <a:t>Web Application</a:t>
            </a:r>
            <a:endParaRPr lang="en-US" sz="1250" dirty="0"/>
          </a:p>
        </p:txBody>
      </p:sp>
      <p:sp>
        <p:nvSpPr>
          <p:cNvPr id="11" name="Text 9"/>
          <p:cNvSpPr/>
          <p:nvPr/>
        </p:nvSpPr>
        <p:spPr>
          <a:xfrm>
            <a:off x="5943600" y="2194560"/>
            <a:ext cx="210312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Admin interface + API</a:t>
            </a:r>
            <a:endParaRPr lang="en-US" sz="1000" dirty="0"/>
          </a:p>
        </p:txBody>
      </p:sp>
      <p:sp>
        <p:nvSpPr>
          <p:cNvPr id="12" name="Shape 10"/>
          <p:cNvSpPr/>
          <p:nvPr/>
        </p:nvSpPr>
        <p:spPr>
          <a:xfrm>
            <a:off x="8595360" y="1737360"/>
            <a:ext cx="2651760" cy="777240"/>
          </a:xfrm>
          <a:prstGeom prst="rect">
            <a:avLst/>
          </a:prstGeom>
          <a:solidFill>
            <a:srgbClr val="F7F7F8"/>
          </a:solidFill>
          <a:ln w="12700">
            <a:solidFill>
              <a:srgbClr val="D9D9D9"/>
            </a:solidFill>
            <a:prstDash val="solid"/>
          </a:ln>
        </p:spPr>
      </p:sp>
      <p:sp>
        <p:nvSpPr>
          <p:cNvPr id="13" name="Text 11"/>
          <p:cNvSpPr/>
          <p:nvPr/>
        </p:nvSpPr>
        <p:spPr>
          <a:xfrm>
            <a:off x="8732520" y="1828800"/>
            <a:ext cx="2377440" cy="411480"/>
          </a:xfrm>
          <a:prstGeom prst="rect">
            <a:avLst/>
          </a:prstGeom>
          <a:noFill/>
          <a:ln/>
        </p:spPr>
        <p:txBody>
          <a:bodyPr wrap="square" lIns="0" tIns="0" rIns="0" bIns="0" rtlCol="0" anchor="ctr"/>
          <a:lstStyle/>
          <a:p>
            <a:pPr indent="0" marL="0">
              <a:lnSpc>
                <a:spcPct val="105000"/>
              </a:lnSpc>
              <a:buNone/>
            </a:pPr>
            <a:r>
              <a:rPr lang="en-US" sz="1250" b="1" dirty="0">
                <a:solidFill>
                  <a:srgbClr val="2B2B2B"/>
                </a:solidFill>
                <a:latin typeface="Calibri" pitchFamily="34" charset="0"/>
                <a:ea typeface="Calibri" pitchFamily="34" charset="-122"/>
                <a:cs typeface="Calibri" pitchFamily="34" charset="-120"/>
              </a:rPr>
              <a:t>Database</a:t>
            </a:r>
            <a:endParaRPr lang="en-US" sz="1250" dirty="0"/>
          </a:p>
        </p:txBody>
      </p:sp>
      <p:sp>
        <p:nvSpPr>
          <p:cNvPr id="14" name="Text 12"/>
          <p:cNvSpPr/>
          <p:nvPr/>
        </p:nvSpPr>
        <p:spPr>
          <a:xfrm>
            <a:off x="8732520" y="2194560"/>
            <a:ext cx="237744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Fleet &amp; configuration data</a:t>
            </a:r>
            <a:endParaRPr lang="en-US" sz="1000" dirty="0"/>
          </a:p>
        </p:txBody>
      </p:sp>
      <p:sp>
        <p:nvSpPr>
          <p:cNvPr id="15" name="Shape 13"/>
          <p:cNvSpPr/>
          <p:nvPr/>
        </p:nvSpPr>
        <p:spPr>
          <a:xfrm>
            <a:off x="5806440" y="3246120"/>
            <a:ext cx="2377440" cy="777240"/>
          </a:xfrm>
          <a:prstGeom prst="rect">
            <a:avLst/>
          </a:prstGeom>
          <a:solidFill>
            <a:srgbClr val="F7F7F8"/>
          </a:solidFill>
          <a:ln w="12700">
            <a:solidFill>
              <a:srgbClr val="D9D9D9"/>
            </a:solidFill>
            <a:prstDash val="solid"/>
          </a:ln>
        </p:spPr>
      </p:sp>
      <p:sp>
        <p:nvSpPr>
          <p:cNvPr id="16" name="Text 14"/>
          <p:cNvSpPr/>
          <p:nvPr/>
        </p:nvSpPr>
        <p:spPr>
          <a:xfrm>
            <a:off x="5943600" y="3337560"/>
            <a:ext cx="2103120" cy="411480"/>
          </a:xfrm>
          <a:prstGeom prst="rect">
            <a:avLst/>
          </a:prstGeom>
          <a:noFill/>
          <a:ln/>
        </p:spPr>
        <p:txBody>
          <a:bodyPr wrap="square" lIns="0" tIns="0" rIns="0" bIns="0" rtlCol="0" anchor="ctr"/>
          <a:lstStyle/>
          <a:p>
            <a:pPr indent="0" marL="0">
              <a:lnSpc>
                <a:spcPct val="105000"/>
              </a:lnSpc>
              <a:buNone/>
            </a:pPr>
            <a:r>
              <a:rPr lang="en-US" sz="1250" b="1" dirty="0">
                <a:solidFill>
                  <a:srgbClr val="2B2B2B"/>
                </a:solidFill>
                <a:latin typeface="Calibri" pitchFamily="34" charset="0"/>
                <a:ea typeface="Calibri" pitchFamily="34" charset="-122"/>
                <a:cs typeface="Calibri" pitchFamily="34" charset="-120"/>
              </a:rPr>
              <a:t>Messaging System</a:t>
            </a:r>
            <a:endParaRPr lang="en-US" sz="1250" dirty="0"/>
          </a:p>
        </p:txBody>
      </p:sp>
      <p:sp>
        <p:nvSpPr>
          <p:cNvPr id="17" name="Text 15"/>
          <p:cNvSpPr/>
          <p:nvPr/>
        </p:nvSpPr>
        <p:spPr>
          <a:xfrm>
            <a:off x="5943600" y="3703320"/>
            <a:ext cx="210312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MQTT broker</a:t>
            </a:r>
            <a:endParaRPr lang="en-US" sz="1000" dirty="0"/>
          </a:p>
        </p:txBody>
      </p:sp>
      <p:sp>
        <p:nvSpPr>
          <p:cNvPr id="18" name="Shape 16"/>
          <p:cNvSpPr/>
          <p:nvPr/>
        </p:nvSpPr>
        <p:spPr>
          <a:xfrm>
            <a:off x="8595360" y="3246120"/>
            <a:ext cx="2651760" cy="777240"/>
          </a:xfrm>
          <a:prstGeom prst="rect">
            <a:avLst/>
          </a:prstGeom>
          <a:solidFill>
            <a:srgbClr val="F7F7F8"/>
          </a:solidFill>
          <a:ln w="12700">
            <a:solidFill>
              <a:srgbClr val="D9D9D9"/>
            </a:solidFill>
            <a:prstDash val="solid"/>
          </a:ln>
        </p:spPr>
      </p:sp>
      <p:sp>
        <p:nvSpPr>
          <p:cNvPr id="19" name="Text 17"/>
          <p:cNvSpPr/>
          <p:nvPr/>
        </p:nvSpPr>
        <p:spPr>
          <a:xfrm>
            <a:off x="8732520" y="3337560"/>
            <a:ext cx="2377440" cy="411480"/>
          </a:xfrm>
          <a:prstGeom prst="rect">
            <a:avLst/>
          </a:prstGeom>
          <a:noFill/>
          <a:ln/>
        </p:spPr>
        <p:txBody>
          <a:bodyPr wrap="square" lIns="0" tIns="0" rIns="0" bIns="0" rtlCol="0" anchor="ctr"/>
          <a:lstStyle/>
          <a:p>
            <a:pPr indent="0" marL="0">
              <a:lnSpc>
                <a:spcPct val="105000"/>
              </a:lnSpc>
              <a:buNone/>
            </a:pPr>
            <a:r>
              <a:rPr lang="en-US" sz="1250" b="1" dirty="0">
                <a:solidFill>
                  <a:srgbClr val="2B2B2B"/>
                </a:solidFill>
                <a:latin typeface="Calibri" pitchFamily="34" charset="0"/>
                <a:ea typeface="Calibri" pitchFamily="34" charset="-122"/>
                <a:cs typeface="Calibri" pitchFamily="34" charset="-120"/>
              </a:rPr>
              <a:t>Field Devices</a:t>
            </a:r>
            <a:endParaRPr lang="en-US" sz="1250" dirty="0"/>
          </a:p>
        </p:txBody>
      </p:sp>
      <p:sp>
        <p:nvSpPr>
          <p:cNvPr id="20" name="Text 18"/>
          <p:cNvSpPr/>
          <p:nvPr/>
        </p:nvSpPr>
        <p:spPr>
          <a:xfrm>
            <a:off x="8732520" y="3703320"/>
            <a:ext cx="237744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Gateways, routers</a:t>
            </a:r>
            <a:endParaRPr lang="en-US" sz="1000" dirty="0"/>
          </a:p>
        </p:txBody>
      </p:sp>
      <p:sp>
        <p:nvSpPr>
          <p:cNvPr id="21" name="Shape 19"/>
          <p:cNvSpPr/>
          <p:nvPr/>
        </p:nvSpPr>
        <p:spPr>
          <a:xfrm>
            <a:off x="2834640" y="2125980"/>
            <a:ext cx="411480" cy="0"/>
          </a:xfrm>
          <a:prstGeom prst="line">
            <a:avLst/>
          </a:prstGeom>
          <a:noFill/>
          <a:ln w="12700">
            <a:solidFill>
              <a:srgbClr val="B7BEC9"/>
            </a:solidFill>
            <a:prstDash val="solid"/>
          </a:ln>
        </p:spPr>
      </p:sp>
      <p:sp>
        <p:nvSpPr>
          <p:cNvPr id="22" name="Shape 20"/>
          <p:cNvSpPr/>
          <p:nvPr/>
        </p:nvSpPr>
        <p:spPr>
          <a:xfrm>
            <a:off x="5394960" y="2125980"/>
            <a:ext cx="411480" cy="0"/>
          </a:xfrm>
          <a:prstGeom prst="line">
            <a:avLst/>
          </a:prstGeom>
          <a:noFill/>
          <a:ln w="12700">
            <a:solidFill>
              <a:srgbClr val="B7BEC9"/>
            </a:solidFill>
            <a:prstDash val="solid"/>
          </a:ln>
        </p:spPr>
      </p:sp>
      <p:sp>
        <p:nvSpPr>
          <p:cNvPr id="23" name="Shape 21"/>
          <p:cNvSpPr/>
          <p:nvPr/>
        </p:nvSpPr>
        <p:spPr>
          <a:xfrm>
            <a:off x="8183880" y="2125980"/>
            <a:ext cx="411480" cy="0"/>
          </a:xfrm>
          <a:prstGeom prst="line">
            <a:avLst/>
          </a:prstGeom>
          <a:noFill/>
          <a:ln w="12700">
            <a:solidFill>
              <a:srgbClr val="B7BEC9"/>
            </a:solidFill>
            <a:prstDash val="solid"/>
          </a:ln>
        </p:spPr>
      </p:sp>
      <p:sp>
        <p:nvSpPr>
          <p:cNvPr id="24" name="Shape 22"/>
          <p:cNvSpPr/>
          <p:nvPr/>
        </p:nvSpPr>
        <p:spPr>
          <a:xfrm>
            <a:off x="6995160" y="2514600"/>
            <a:ext cx="0" cy="731520"/>
          </a:xfrm>
          <a:prstGeom prst="line">
            <a:avLst/>
          </a:prstGeom>
          <a:noFill/>
          <a:ln w="12700">
            <a:solidFill>
              <a:srgbClr val="B7BEC9"/>
            </a:solidFill>
            <a:prstDash val="solid"/>
          </a:ln>
        </p:spPr>
      </p:sp>
      <p:sp>
        <p:nvSpPr>
          <p:cNvPr id="25" name="Shape 23"/>
          <p:cNvSpPr/>
          <p:nvPr/>
        </p:nvSpPr>
        <p:spPr>
          <a:xfrm>
            <a:off x="8183880" y="3634740"/>
            <a:ext cx="411480" cy="0"/>
          </a:xfrm>
          <a:prstGeom prst="line">
            <a:avLst/>
          </a:prstGeom>
          <a:noFill/>
          <a:ln w="12700">
            <a:solidFill>
              <a:srgbClr val="B7BEC9"/>
            </a:solidFill>
            <a:prstDash val="solid"/>
          </a:ln>
        </p:spPr>
      </p:sp>
      <p:sp>
        <p:nvSpPr>
          <p:cNvPr id="26" name="Shape 24"/>
          <p:cNvSpPr/>
          <p:nvPr/>
        </p:nvSpPr>
        <p:spPr>
          <a:xfrm>
            <a:off x="685800" y="4617720"/>
            <a:ext cx="10817352" cy="0"/>
          </a:xfrm>
          <a:prstGeom prst="line">
            <a:avLst/>
          </a:prstGeom>
          <a:noFill/>
          <a:ln w="9525">
            <a:solidFill>
              <a:srgbClr val="D9D9D9"/>
            </a:solidFill>
            <a:prstDash val="solid"/>
          </a:ln>
        </p:spPr>
      </p:sp>
      <p:sp>
        <p:nvSpPr>
          <p:cNvPr id="27" name="Text 25"/>
          <p:cNvSpPr/>
          <p:nvPr/>
        </p:nvSpPr>
        <p:spPr>
          <a:xfrm>
            <a:off x="685800" y="4846320"/>
            <a:ext cx="10515600" cy="822960"/>
          </a:xfrm>
          <a:prstGeom prst="rect">
            <a:avLst/>
          </a:prstGeom>
          <a:noFill/>
          <a:ln/>
        </p:spPr>
        <p:txBody>
          <a:bodyPr wrap="square" lIns="0" tIns="0" rIns="0" bIns="0" rtlCol="0" anchor="t"/>
          <a:lstStyle/>
          <a:p>
            <a:pPr indent="0" marL="0">
              <a:lnSpc>
                <a:spcPct val="130000"/>
              </a:lnSpc>
              <a:buNone/>
            </a:pPr>
            <a:r>
              <a:rPr lang="en-US" sz="1250" dirty="0">
                <a:solidFill>
                  <a:srgbClr val="6B6B6B"/>
                </a:solidFill>
                <a:latin typeface="Calibri" pitchFamily="34" charset="0"/>
                <a:ea typeface="Calibri" pitchFamily="34" charset="-122"/>
                <a:cs typeface="Calibri" pitchFamily="34" charset="-120"/>
              </a:rPr>
              <a:t>Users access the platform through a browser. Traffic passes through a reverse proxy for encryption and routing. The application stores data in a database and communicates with field devices through an MQTT messaging system.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515600" cy="548640"/>
          </a:xfrm>
          <a:prstGeom prst="rect">
            <a:avLst/>
          </a:prstGeom>
          <a:noFill/>
          <a:ln/>
        </p:spPr>
        <p:txBody>
          <a:bodyPr wrap="square" lIns="0" tIns="0" rIns="0" bIns="0" rtlCol="0" anchor="ctr"/>
          <a:lstStyle/>
          <a:p>
            <a:pPr indent="0" marL="0">
              <a:buNone/>
            </a:pPr>
            <a:r>
              <a:rPr lang="en-US" sz="2600" b="1" dirty="0">
                <a:solidFill>
                  <a:srgbClr val="2B2B2B"/>
                </a:solidFill>
                <a:latin typeface="Calibri" pitchFamily="34" charset="0"/>
                <a:ea typeface="Calibri" pitchFamily="34" charset="-122"/>
                <a:cs typeface="Calibri" pitchFamily="34" charset="-120"/>
              </a:rPr>
              <a:t>Key Capabilities</a:t>
            </a:r>
            <a:endParaRPr lang="en-US" sz="2600" dirty="0"/>
          </a:p>
        </p:txBody>
      </p:sp>
      <p:sp>
        <p:nvSpPr>
          <p:cNvPr id="3" name="Text 1"/>
          <p:cNvSpPr/>
          <p:nvPr/>
        </p:nvSpPr>
        <p:spPr>
          <a:xfrm>
            <a:off x="685800" y="1508760"/>
            <a:ext cx="3200400" cy="713232"/>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Device registration &amp; monitoring</a:t>
            </a:r>
            <a:endParaRPr lang="en-US" sz="1350" dirty="0"/>
          </a:p>
        </p:txBody>
      </p:sp>
      <p:sp>
        <p:nvSpPr>
          <p:cNvPr id="4" name="Text 2"/>
          <p:cNvSpPr/>
          <p:nvPr/>
        </p:nvSpPr>
        <p:spPr>
          <a:xfrm>
            <a:off x="4114800" y="1508760"/>
            <a:ext cx="6949440" cy="713232"/>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See which devices are online, offline, or inactive across the fleet.</a:t>
            </a:r>
            <a:endParaRPr lang="en-US" sz="1300" dirty="0"/>
          </a:p>
        </p:txBody>
      </p:sp>
      <p:sp>
        <p:nvSpPr>
          <p:cNvPr id="5" name="Shape 3"/>
          <p:cNvSpPr/>
          <p:nvPr/>
        </p:nvSpPr>
        <p:spPr>
          <a:xfrm>
            <a:off x="685800" y="2167128"/>
            <a:ext cx="10817352" cy="0"/>
          </a:xfrm>
          <a:prstGeom prst="line">
            <a:avLst/>
          </a:prstGeom>
          <a:noFill/>
          <a:ln w="6350">
            <a:solidFill>
              <a:srgbClr val="D9D9D9"/>
            </a:solidFill>
            <a:prstDash val="solid"/>
          </a:ln>
        </p:spPr>
      </p:sp>
      <p:sp>
        <p:nvSpPr>
          <p:cNvPr id="6" name="Text 4"/>
          <p:cNvSpPr/>
          <p:nvPr/>
        </p:nvSpPr>
        <p:spPr>
          <a:xfrm>
            <a:off x="685800" y="2221992"/>
            <a:ext cx="3200400" cy="713232"/>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Firmware management</a:t>
            </a:r>
            <a:endParaRPr lang="en-US" sz="1350" dirty="0"/>
          </a:p>
        </p:txBody>
      </p:sp>
      <p:sp>
        <p:nvSpPr>
          <p:cNvPr id="7" name="Text 5"/>
          <p:cNvSpPr/>
          <p:nvPr/>
        </p:nvSpPr>
        <p:spPr>
          <a:xfrm>
            <a:off x="4114800" y="2221992"/>
            <a:ext cx="6949440" cy="713232"/>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Upload versions and roll them out to selected devices, with progress tracking.</a:t>
            </a:r>
            <a:endParaRPr lang="en-US" sz="1300" dirty="0"/>
          </a:p>
        </p:txBody>
      </p:sp>
      <p:sp>
        <p:nvSpPr>
          <p:cNvPr id="8" name="Shape 6"/>
          <p:cNvSpPr/>
          <p:nvPr/>
        </p:nvSpPr>
        <p:spPr>
          <a:xfrm>
            <a:off x="685800" y="2880360"/>
            <a:ext cx="10817352" cy="0"/>
          </a:xfrm>
          <a:prstGeom prst="line">
            <a:avLst/>
          </a:prstGeom>
          <a:noFill/>
          <a:ln w="6350">
            <a:solidFill>
              <a:srgbClr val="D9D9D9"/>
            </a:solidFill>
            <a:prstDash val="solid"/>
          </a:ln>
        </p:spPr>
      </p:sp>
      <p:sp>
        <p:nvSpPr>
          <p:cNvPr id="9" name="Text 7"/>
          <p:cNvSpPr/>
          <p:nvPr/>
        </p:nvSpPr>
        <p:spPr>
          <a:xfrm>
            <a:off x="685800" y="2935224"/>
            <a:ext cx="3200400" cy="713232"/>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Application management</a:t>
            </a:r>
            <a:endParaRPr lang="en-US" sz="1350" dirty="0"/>
          </a:p>
        </p:txBody>
      </p:sp>
      <p:sp>
        <p:nvSpPr>
          <p:cNvPr id="10" name="Text 8"/>
          <p:cNvSpPr/>
          <p:nvPr/>
        </p:nvSpPr>
        <p:spPr>
          <a:xfrm>
            <a:off x="4114800" y="2935224"/>
            <a:ext cx="6949440" cy="713232"/>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Distribute and version applications independently of firmware.</a:t>
            </a:r>
            <a:endParaRPr lang="en-US" sz="1300" dirty="0"/>
          </a:p>
        </p:txBody>
      </p:sp>
      <p:sp>
        <p:nvSpPr>
          <p:cNvPr id="11" name="Shape 9"/>
          <p:cNvSpPr/>
          <p:nvPr/>
        </p:nvSpPr>
        <p:spPr>
          <a:xfrm>
            <a:off x="685800" y="3593592"/>
            <a:ext cx="10817352" cy="0"/>
          </a:xfrm>
          <a:prstGeom prst="line">
            <a:avLst/>
          </a:prstGeom>
          <a:noFill/>
          <a:ln w="6350">
            <a:solidFill>
              <a:srgbClr val="D9D9D9"/>
            </a:solidFill>
            <a:prstDash val="solid"/>
          </a:ln>
        </p:spPr>
      </p:sp>
      <p:sp>
        <p:nvSpPr>
          <p:cNvPr id="12" name="Text 10"/>
          <p:cNvSpPr/>
          <p:nvPr/>
        </p:nvSpPr>
        <p:spPr>
          <a:xfrm>
            <a:off x="685800" y="3648456"/>
            <a:ext cx="3200400" cy="713232"/>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Configuration management</a:t>
            </a:r>
            <a:endParaRPr lang="en-US" sz="1350" dirty="0"/>
          </a:p>
        </p:txBody>
      </p:sp>
      <p:sp>
        <p:nvSpPr>
          <p:cNvPr id="13" name="Text 11"/>
          <p:cNvSpPr/>
          <p:nvPr/>
        </p:nvSpPr>
        <p:spPr>
          <a:xfrm>
            <a:off x="4114800" y="3648456"/>
            <a:ext cx="6949440" cy="713232"/>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Define reusable profiles and apply them across devices.</a:t>
            </a:r>
            <a:endParaRPr lang="en-US" sz="1300" dirty="0"/>
          </a:p>
        </p:txBody>
      </p:sp>
      <p:sp>
        <p:nvSpPr>
          <p:cNvPr id="14" name="Shape 12"/>
          <p:cNvSpPr/>
          <p:nvPr/>
        </p:nvSpPr>
        <p:spPr>
          <a:xfrm>
            <a:off x="685800" y="4306824"/>
            <a:ext cx="10817352" cy="0"/>
          </a:xfrm>
          <a:prstGeom prst="line">
            <a:avLst/>
          </a:prstGeom>
          <a:noFill/>
          <a:ln w="6350">
            <a:solidFill>
              <a:srgbClr val="D9D9D9"/>
            </a:solidFill>
            <a:prstDash val="solid"/>
          </a:ln>
        </p:spPr>
      </p:sp>
      <p:sp>
        <p:nvSpPr>
          <p:cNvPr id="15" name="Text 13"/>
          <p:cNvSpPr/>
          <p:nvPr/>
        </p:nvSpPr>
        <p:spPr>
          <a:xfrm>
            <a:off x="685800" y="4361688"/>
            <a:ext cx="3200400" cy="713232"/>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Rollout tracking</a:t>
            </a:r>
            <a:endParaRPr lang="en-US" sz="1350" dirty="0"/>
          </a:p>
        </p:txBody>
      </p:sp>
      <p:sp>
        <p:nvSpPr>
          <p:cNvPr id="16" name="Text 14"/>
          <p:cNvSpPr/>
          <p:nvPr/>
        </p:nvSpPr>
        <p:spPr>
          <a:xfrm>
            <a:off x="4114800" y="4361688"/>
            <a:ext cx="6949440" cy="713232"/>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Per-device progress and outcome for every update task.</a:t>
            </a:r>
            <a:endParaRPr lang="en-US" sz="1300" dirty="0"/>
          </a:p>
        </p:txBody>
      </p:sp>
      <p:sp>
        <p:nvSpPr>
          <p:cNvPr id="17" name="Shape 15"/>
          <p:cNvSpPr/>
          <p:nvPr/>
        </p:nvSpPr>
        <p:spPr>
          <a:xfrm>
            <a:off x="685800" y="5020056"/>
            <a:ext cx="10817352" cy="0"/>
          </a:xfrm>
          <a:prstGeom prst="line">
            <a:avLst/>
          </a:prstGeom>
          <a:noFill/>
          <a:ln w="6350">
            <a:solidFill>
              <a:srgbClr val="D9D9D9"/>
            </a:solidFill>
            <a:prstDash val="solid"/>
          </a:ln>
        </p:spPr>
      </p:sp>
      <p:sp>
        <p:nvSpPr>
          <p:cNvPr id="18" name="Text 16"/>
          <p:cNvSpPr/>
          <p:nvPr/>
        </p:nvSpPr>
        <p:spPr>
          <a:xfrm>
            <a:off x="685800" y="5074920"/>
            <a:ext cx="3200400" cy="713232"/>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User, role &amp; audit management</a:t>
            </a:r>
            <a:endParaRPr lang="en-US" sz="1350" dirty="0"/>
          </a:p>
        </p:txBody>
      </p:sp>
      <p:sp>
        <p:nvSpPr>
          <p:cNvPr id="19" name="Text 17"/>
          <p:cNvSpPr/>
          <p:nvPr/>
        </p:nvSpPr>
        <p:spPr>
          <a:xfrm>
            <a:off x="4114800" y="5074920"/>
            <a:ext cx="6949440" cy="713232"/>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Control access by role, with a full activity log.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515600" cy="548640"/>
          </a:xfrm>
          <a:prstGeom prst="rect">
            <a:avLst/>
          </a:prstGeom>
          <a:noFill/>
          <a:ln/>
        </p:spPr>
        <p:txBody>
          <a:bodyPr wrap="square" lIns="0" tIns="0" rIns="0" bIns="0" rtlCol="0" anchor="ctr"/>
          <a:lstStyle/>
          <a:p>
            <a:pPr indent="0" marL="0">
              <a:buNone/>
            </a:pPr>
            <a:r>
              <a:rPr lang="en-US" sz="2600" b="1" dirty="0">
                <a:solidFill>
                  <a:srgbClr val="2B2B2B"/>
                </a:solidFill>
                <a:latin typeface="Calibri" pitchFamily="34" charset="0"/>
                <a:ea typeface="Calibri" pitchFamily="34" charset="-122"/>
                <a:cs typeface="Calibri" pitchFamily="34" charset="-120"/>
              </a:rPr>
              <a:t>Technology &amp; Security</a:t>
            </a:r>
            <a:endParaRPr lang="en-US" sz="2600" dirty="0"/>
          </a:p>
        </p:txBody>
      </p:sp>
      <p:sp>
        <p:nvSpPr>
          <p:cNvPr id="3" name="Text 1"/>
          <p:cNvSpPr/>
          <p:nvPr/>
        </p:nvSpPr>
        <p:spPr>
          <a:xfrm>
            <a:off x="685800" y="1417320"/>
            <a:ext cx="4846320" cy="274320"/>
          </a:xfrm>
          <a:prstGeom prst="rect">
            <a:avLst/>
          </a:prstGeom>
          <a:noFill/>
          <a:ln/>
        </p:spPr>
        <p:txBody>
          <a:bodyPr wrap="square" lIns="0" tIns="0" rIns="0" bIns="0" rtlCol="0" anchor="ctr"/>
          <a:lstStyle/>
          <a:p>
            <a:pPr indent="0" marL="0">
              <a:buNone/>
            </a:pPr>
            <a:r>
              <a:rPr lang="en-US" sz="1100" b="1" dirty="0">
                <a:solidFill>
                  <a:srgbClr val="2F5C8A"/>
                </a:solidFill>
                <a:latin typeface="Calibri" pitchFamily="34" charset="0"/>
                <a:ea typeface="Calibri" pitchFamily="34" charset="-122"/>
                <a:cs typeface="Calibri" pitchFamily="34" charset="-120"/>
              </a:rPr>
              <a:t>TECHNOLOGY</a:t>
            </a:r>
            <a:endParaRPr lang="en-US" sz="1100" dirty="0"/>
          </a:p>
        </p:txBody>
      </p:sp>
      <p:sp>
        <p:nvSpPr>
          <p:cNvPr id="4" name="Text 2"/>
          <p:cNvSpPr/>
          <p:nvPr/>
        </p:nvSpPr>
        <p:spPr>
          <a:xfrm>
            <a:off x="685800" y="1828800"/>
            <a:ext cx="1828800" cy="38404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Web application</a:t>
            </a:r>
            <a:endParaRPr lang="en-US" sz="1250" dirty="0"/>
          </a:p>
        </p:txBody>
      </p:sp>
      <p:sp>
        <p:nvSpPr>
          <p:cNvPr id="5" name="Text 3"/>
          <p:cNvSpPr/>
          <p:nvPr/>
        </p:nvSpPr>
        <p:spPr>
          <a:xfrm>
            <a:off x="2468880" y="1828800"/>
            <a:ext cx="2743200" cy="384048"/>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.NET, on a standard Linux server</a:t>
            </a:r>
            <a:endParaRPr lang="en-US" sz="1250" dirty="0"/>
          </a:p>
        </p:txBody>
      </p:sp>
      <p:sp>
        <p:nvSpPr>
          <p:cNvPr id="6" name="Shape 4"/>
          <p:cNvSpPr/>
          <p:nvPr/>
        </p:nvSpPr>
        <p:spPr>
          <a:xfrm>
            <a:off x="685800" y="2212848"/>
            <a:ext cx="5166360" cy="0"/>
          </a:xfrm>
          <a:prstGeom prst="line">
            <a:avLst/>
          </a:prstGeom>
          <a:noFill/>
          <a:ln w="6350">
            <a:solidFill>
              <a:srgbClr val="D9D9D9"/>
            </a:solidFill>
            <a:prstDash val="solid"/>
          </a:ln>
        </p:spPr>
      </p:sp>
      <p:sp>
        <p:nvSpPr>
          <p:cNvPr id="7" name="Text 5"/>
          <p:cNvSpPr/>
          <p:nvPr/>
        </p:nvSpPr>
        <p:spPr>
          <a:xfrm>
            <a:off x="685800" y="2304288"/>
            <a:ext cx="1828800" cy="38404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Database</a:t>
            </a:r>
            <a:endParaRPr lang="en-US" sz="1250" dirty="0"/>
          </a:p>
        </p:txBody>
      </p:sp>
      <p:sp>
        <p:nvSpPr>
          <p:cNvPr id="8" name="Text 6"/>
          <p:cNvSpPr/>
          <p:nvPr/>
        </p:nvSpPr>
        <p:spPr>
          <a:xfrm>
            <a:off x="2468880" y="2304288"/>
            <a:ext cx="2743200" cy="384048"/>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PostgreSQL</a:t>
            </a:r>
            <a:endParaRPr lang="en-US" sz="1250" dirty="0"/>
          </a:p>
        </p:txBody>
      </p:sp>
      <p:sp>
        <p:nvSpPr>
          <p:cNvPr id="9" name="Shape 7"/>
          <p:cNvSpPr/>
          <p:nvPr/>
        </p:nvSpPr>
        <p:spPr>
          <a:xfrm>
            <a:off x="685800" y="2688336"/>
            <a:ext cx="5166360" cy="0"/>
          </a:xfrm>
          <a:prstGeom prst="line">
            <a:avLst/>
          </a:prstGeom>
          <a:noFill/>
          <a:ln w="6350">
            <a:solidFill>
              <a:srgbClr val="D9D9D9"/>
            </a:solidFill>
            <a:prstDash val="solid"/>
          </a:ln>
        </p:spPr>
      </p:sp>
      <p:sp>
        <p:nvSpPr>
          <p:cNvPr id="10" name="Text 8"/>
          <p:cNvSpPr/>
          <p:nvPr/>
        </p:nvSpPr>
        <p:spPr>
          <a:xfrm>
            <a:off x="685800" y="2779776"/>
            <a:ext cx="1828800" cy="38404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Device messaging</a:t>
            </a:r>
            <a:endParaRPr lang="en-US" sz="1250" dirty="0"/>
          </a:p>
        </p:txBody>
      </p:sp>
      <p:sp>
        <p:nvSpPr>
          <p:cNvPr id="11" name="Text 9"/>
          <p:cNvSpPr/>
          <p:nvPr/>
        </p:nvSpPr>
        <p:spPr>
          <a:xfrm>
            <a:off x="2468880" y="2779776"/>
            <a:ext cx="2743200" cy="384048"/>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MQTT (industry standard for IoT)</a:t>
            </a:r>
            <a:endParaRPr lang="en-US" sz="1250" dirty="0"/>
          </a:p>
        </p:txBody>
      </p:sp>
      <p:sp>
        <p:nvSpPr>
          <p:cNvPr id="12" name="Shape 10"/>
          <p:cNvSpPr/>
          <p:nvPr/>
        </p:nvSpPr>
        <p:spPr>
          <a:xfrm>
            <a:off x="685800" y="3163824"/>
            <a:ext cx="5166360" cy="0"/>
          </a:xfrm>
          <a:prstGeom prst="line">
            <a:avLst/>
          </a:prstGeom>
          <a:noFill/>
          <a:ln w="6350">
            <a:solidFill>
              <a:srgbClr val="D9D9D9"/>
            </a:solidFill>
            <a:prstDash val="solid"/>
          </a:ln>
        </p:spPr>
      </p:sp>
      <p:sp>
        <p:nvSpPr>
          <p:cNvPr id="13" name="Text 11"/>
          <p:cNvSpPr/>
          <p:nvPr/>
        </p:nvSpPr>
        <p:spPr>
          <a:xfrm>
            <a:off x="685800" y="3255264"/>
            <a:ext cx="1828800" cy="38404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Web delivery</a:t>
            </a:r>
            <a:endParaRPr lang="en-US" sz="1250" dirty="0"/>
          </a:p>
        </p:txBody>
      </p:sp>
      <p:sp>
        <p:nvSpPr>
          <p:cNvPr id="14" name="Text 12"/>
          <p:cNvSpPr/>
          <p:nvPr/>
        </p:nvSpPr>
        <p:spPr>
          <a:xfrm>
            <a:off x="2468880" y="3255264"/>
            <a:ext cx="2743200" cy="384048"/>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Nginx reverse proxy with TLS</a:t>
            </a:r>
            <a:endParaRPr lang="en-US" sz="1250" dirty="0"/>
          </a:p>
        </p:txBody>
      </p:sp>
      <p:sp>
        <p:nvSpPr>
          <p:cNvPr id="15" name="Shape 13"/>
          <p:cNvSpPr/>
          <p:nvPr/>
        </p:nvSpPr>
        <p:spPr>
          <a:xfrm>
            <a:off x="685800" y="3639312"/>
            <a:ext cx="5166360" cy="0"/>
          </a:xfrm>
          <a:prstGeom prst="line">
            <a:avLst/>
          </a:prstGeom>
          <a:noFill/>
          <a:ln w="6350">
            <a:solidFill>
              <a:srgbClr val="D9D9D9"/>
            </a:solidFill>
            <a:prstDash val="solid"/>
          </a:ln>
        </p:spPr>
      </p:sp>
      <p:sp>
        <p:nvSpPr>
          <p:cNvPr id="16" name="Shape 14"/>
          <p:cNvSpPr/>
          <p:nvPr/>
        </p:nvSpPr>
        <p:spPr>
          <a:xfrm>
            <a:off x="6126480" y="1417320"/>
            <a:ext cx="0" cy="4572000"/>
          </a:xfrm>
          <a:prstGeom prst="line">
            <a:avLst/>
          </a:prstGeom>
          <a:noFill/>
          <a:ln w="9525">
            <a:solidFill>
              <a:srgbClr val="D9D9D9"/>
            </a:solidFill>
            <a:prstDash val="solid"/>
          </a:ln>
        </p:spPr>
      </p:sp>
      <p:sp>
        <p:nvSpPr>
          <p:cNvPr id="17" name="Text 15"/>
          <p:cNvSpPr/>
          <p:nvPr/>
        </p:nvSpPr>
        <p:spPr>
          <a:xfrm>
            <a:off x="6492240" y="1417320"/>
            <a:ext cx="5029200" cy="274320"/>
          </a:xfrm>
          <a:prstGeom prst="rect">
            <a:avLst/>
          </a:prstGeom>
          <a:noFill/>
          <a:ln/>
        </p:spPr>
        <p:txBody>
          <a:bodyPr wrap="square" lIns="0" tIns="0" rIns="0" bIns="0" rtlCol="0" anchor="ctr"/>
          <a:lstStyle/>
          <a:p>
            <a:pPr indent="0" marL="0">
              <a:buNone/>
            </a:pPr>
            <a:r>
              <a:rPr lang="en-US" sz="1100" b="1" dirty="0">
                <a:solidFill>
                  <a:srgbClr val="2F5C8A"/>
                </a:solidFill>
                <a:latin typeface="Calibri" pitchFamily="34" charset="0"/>
                <a:ea typeface="Calibri" pitchFamily="34" charset="-122"/>
                <a:cs typeface="Calibri" pitchFamily="34" charset="-120"/>
              </a:rPr>
              <a:t>SECURITY</a:t>
            </a:r>
            <a:endParaRPr lang="en-US" sz="1100" dirty="0"/>
          </a:p>
        </p:txBody>
      </p:sp>
      <p:sp>
        <p:nvSpPr>
          <p:cNvPr id="18" name="Text 16"/>
          <p:cNvSpPr/>
          <p:nvPr/>
        </p:nvSpPr>
        <p:spPr>
          <a:xfrm>
            <a:off x="6492240" y="1828800"/>
            <a:ext cx="5029200" cy="0"/>
          </a:xfrm>
          <a:prstGeom prst="rect">
            <a:avLst/>
          </a:prstGeom>
          <a:noFill/>
          <a:ln/>
        </p:spPr>
        <p:txBody>
          <a:bodyPr wrap="square" lIns="0" tIns="0" rIns="0" bIns="0" rtlCol="0" anchor="t"/>
          <a:lstStyle/>
          <a:p>
            <a:pPr marL="228600" indent="-228600">
              <a:lnSpc>
                <a:spcPct val="12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All web and device traffic is encrypted with TLS.</a:t>
            </a:r>
            <a:endParaRPr lang="en-US" sz="1250" dirty="0"/>
          </a:p>
          <a:p>
            <a:pPr marL="228600" indent="-228600">
              <a:lnSpc>
                <a:spcPct val="12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Devices are identified with individually issued certificates, not shared passwords.</a:t>
            </a:r>
            <a:endParaRPr lang="en-US" sz="1250" dirty="0"/>
          </a:p>
          <a:p>
            <a:pPr marL="228600" indent="-228600">
              <a:lnSpc>
                <a:spcPct val="12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Messaging is encrypted and authenticated, with per-device topic restrictions.</a:t>
            </a:r>
            <a:endParaRPr lang="en-US" sz="1250" dirty="0"/>
          </a:p>
          <a:p>
            <a:pPr marL="228600" indent="-228600">
              <a:lnSpc>
                <a:spcPct val="12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Access is controlled by named user accounts and roles.</a:t>
            </a:r>
            <a:endParaRPr lang="en-US" sz="1250" dirty="0"/>
          </a:p>
          <a:p>
            <a:pPr marL="228600" indent="-228600">
              <a:lnSpc>
                <a:spcPct val="12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Sign-ins and key admin actions are recorded in an audit log.</a:t>
            </a:r>
            <a:endParaRPr lang="en-US" sz="1250" dirty="0"/>
          </a:p>
          <a:p>
            <a:pPr marL="228600" indent="-228600">
              <a:lnSpc>
                <a:spcPct val="12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Application components sit behind a single controlled entry point.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515600" cy="548640"/>
          </a:xfrm>
          <a:prstGeom prst="rect">
            <a:avLst/>
          </a:prstGeom>
          <a:noFill/>
          <a:ln/>
        </p:spPr>
        <p:txBody>
          <a:bodyPr wrap="square" lIns="0" tIns="0" rIns="0" bIns="0" rtlCol="0" anchor="ctr"/>
          <a:lstStyle/>
          <a:p>
            <a:pPr indent="0" marL="0">
              <a:buNone/>
            </a:pPr>
            <a:r>
              <a:rPr lang="en-US" sz="2600" b="1" dirty="0">
                <a:solidFill>
                  <a:srgbClr val="2B2B2B"/>
                </a:solidFill>
                <a:latin typeface="Calibri" pitchFamily="34" charset="0"/>
                <a:ea typeface="Calibri" pitchFamily="34" charset="-122"/>
                <a:cs typeface="Calibri" pitchFamily="34" charset="-120"/>
              </a:rPr>
              <a:t>Infrastructure Integration</a:t>
            </a:r>
            <a:endParaRPr lang="en-US" sz="2600" dirty="0"/>
          </a:p>
        </p:txBody>
      </p:sp>
      <p:sp>
        <p:nvSpPr>
          <p:cNvPr id="3" name="Text 1"/>
          <p:cNvSpPr/>
          <p:nvPr/>
        </p:nvSpPr>
        <p:spPr>
          <a:xfrm>
            <a:off x="685800" y="1508760"/>
            <a:ext cx="3657600" cy="841248"/>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Runs on your infrastructure</a:t>
            </a:r>
            <a:endParaRPr lang="en-US" sz="1350" dirty="0"/>
          </a:p>
        </p:txBody>
      </p:sp>
      <p:sp>
        <p:nvSpPr>
          <p:cNvPr id="4" name="Text 2"/>
          <p:cNvSpPr/>
          <p:nvPr/>
        </p:nvSpPr>
        <p:spPr>
          <a:xfrm>
            <a:off x="4572000" y="1508760"/>
            <a:ext cx="6492240" cy="841248"/>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A standard Linux server — your own data center or any cloud provider.</a:t>
            </a:r>
            <a:endParaRPr lang="en-US" sz="1300" dirty="0"/>
          </a:p>
        </p:txBody>
      </p:sp>
      <p:sp>
        <p:nvSpPr>
          <p:cNvPr id="5" name="Shape 3"/>
          <p:cNvSpPr/>
          <p:nvPr/>
        </p:nvSpPr>
        <p:spPr>
          <a:xfrm>
            <a:off x="685800" y="2276856"/>
            <a:ext cx="10817352" cy="0"/>
          </a:xfrm>
          <a:prstGeom prst="line">
            <a:avLst/>
          </a:prstGeom>
          <a:noFill/>
          <a:ln w="6350">
            <a:solidFill>
              <a:srgbClr val="D9D9D9"/>
            </a:solidFill>
            <a:prstDash val="solid"/>
          </a:ln>
        </p:spPr>
      </p:sp>
      <p:sp>
        <p:nvSpPr>
          <p:cNvPr id="6" name="Text 4"/>
          <p:cNvSpPr/>
          <p:nvPr/>
        </p:nvSpPr>
        <p:spPr>
          <a:xfrm>
            <a:off x="685800" y="2350008"/>
            <a:ext cx="3657600" cy="841248"/>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Standard database</a:t>
            </a:r>
            <a:endParaRPr lang="en-US" sz="1350" dirty="0"/>
          </a:p>
        </p:txBody>
      </p:sp>
      <p:sp>
        <p:nvSpPr>
          <p:cNvPr id="7" name="Text 5"/>
          <p:cNvSpPr/>
          <p:nvPr/>
        </p:nvSpPr>
        <p:spPr>
          <a:xfrm>
            <a:off x="4572000" y="2350008"/>
            <a:ext cx="6492240" cy="841248"/>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PostgreSQL, hosted on the same server or as a separate managed service.</a:t>
            </a:r>
            <a:endParaRPr lang="en-US" sz="1300" dirty="0"/>
          </a:p>
        </p:txBody>
      </p:sp>
      <p:sp>
        <p:nvSpPr>
          <p:cNvPr id="8" name="Shape 6"/>
          <p:cNvSpPr/>
          <p:nvPr/>
        </p:nvSpPr>
        <p:spPr>
          <a:xfrm>
            <a:off x="685800" y="3118104"/>
            <a:ext cx="10817352" cy="0"/>
          </a:xfrm>
          <a:prstGeom prst="line">
            <a:avLst/>
          </a:prstGeom>
          <a:noFill/>
          <a:ln w="6350">
            <a:solidFill>
              <a:srgbClr val="D9D9D9"/>
            </a:solidFill>
            <a:prstDash val="solid"/>
          </a:ln>
        </p:spPr>
      </p:sp>
      <p:sp>
        <p:nvSpPr>
          <p:cNvPr id="9" name="Text 7"/>
          <p:cNvSpPr/>
          <p:nvPr/>
        </p:nvSpPr>
        <p:spPr>
          <a:xfrm>
            <a:off x="685800" y="3191256"/>
            <a:ext cx="3657600" cy="841248"/>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Connects to your messaging system</a:t>
            </a:r>
            <a:endParaRPr lang="en-US" sz="1350" dirty="0"/>
          </a:p>
        </p:txBody>
      </p:sp>
      <p:sp>
        <p:nvSpPr>
          <p:cNvPr id="10" name="Text 8"/>
          <p:cNvSpPr/>
          <p:nvPr/>
        </p:nvSpPr>
        <p:spPr>
          <a:xfrm>
            <a:off x="4572000" y="3191256"/>
            <a:ext cx="6492240" cy="841248"/>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An existing MQTT broker, or a new one set up for this deployment.</a:t>
            </a:r>
            <a:endParaRPr lang="en-US" sz="1300" dirty="0"/>
          </a:p>
        </p:txBody>
      </p:sp>
      <p:sp>
        <p:nvSpPr>
          <p:cNvPr id="11" name="Shape 9"/>
          <p:cNvSpPr/>
          <p:nvPr/>
        </p:nvSpPr>
        <p:spPr>
          <a:xfrm>
            <a:off x="685800" y="3959352"/>
            <a:ext cx="10817352" cy="0"/>
          </a:xfrm>
          <a:prstGeom prst="line">
            <a:avLst/>
          </a:prstGeom>
          <a:noFill/>
          <a:ln w="6350">
            <a:solidFill>
              <a:srgbClr val="D9D9D9"/>
            </a:solidFill>
            <a:prstDash val="solid"/>
          </a:ln>
        </p:spPr>
      </p:sp>
      <p:sp>
        <p:nvSpPr>
          <p:cNvPr id="12" name="Text 10"/>
          <p:cNvSpPr/>
          <p:nvPr/>
        </p:nvSpPr>
        <p:spPr>
          <a:xfrm>
            <a:off x="685800" y="4032504"/>
            <a:ext cx="3657600" cy="841248"/>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Minimal network footprint</a:t>
            </a:r>
            <a:endParaRPr lang="en-US" sz="1350" dirty="0"/>
          </a:p>
        </p:txBody>
      </p:sp>
      <p:sp>
        <p:nvSpPr>
          <p:cNvPr id="13" name="Text 11"/>
          <p:cNvSpPr/>
          <p:nvPr/>
        </p:nvSpPr>
        <p:spPr>
          <a:xfrm>
            <a:off x="4572000" y="4032504"/>
            <a:ext cx="6492240" cy="841248"/>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Only a small, defined set of ports needs to be opened (see the Deployment Requirements document).</a:t>
            </a:r>
            <a:endParaRPr lang="en-US" sz="1300" dirty="0"/>
          </a:p>
        </p:txBody>
      </p:sp>
      <p:sp>
        <p:nvSpPr>
          <p:cNvPr id="14" name="Shape 12"/>
          <p:cNvSpPr/>
          <p:nvPr/>
        </p:nvSpPr>
        <p:spPr>
          <a:xfrm>
            <a:off x="685800" y="4800600"/>
            <a:ext cx="10817352" cy="0"/>
          </a:xfrm>
          <a:prstGeom prst="line">
            <a:avLst/>
          </a:prstGeom>
          <a:noFill/>
          <a:ln w="6350">
            <a:solidFill>
              <a:srgbClr val="D9D9D9"/>
            </a:solidFill>
            <a:prstDash val="solid"/>
          </a:ln>
        </p:spPr>
      </p:sp>
      <p:sp>
        <p:nvSpPr>
          <p:cNvPr id="15" name="Text 13"/>
          <p:cNvSpPr/>
          <p:nvPr/>
        </p:nvSpPr>
        <p:spPr>
          <a:xfrm>
            <a:off x="685800" y="4873752"/>
            <a:ext cx="3657600" cy="841248"/>
          </a:xfrm>
          <a:prstGeom prst="rect">
            <a:avLst/>
          </a:prstGeom>
          <a:noFill/>
          <a:ln/>
        </p:spPr>
        <p:txBody>
          <a:bodyPr wrap="square" lIns="0" tIns="0" rIns="0" bIns="0" rtlCol="0" anchor="t"/>
          <a:lstStyle/>
          <a:p>
            <a:pPr indent="0" marL="0">
              <a:lnSpc>
                <a:spcPct val="115000"/>
              </a:lnSpc>
              <a:buNone/>
            </a:pPr>
            <a:r>
              <a:rPr lang="en-US" sz="1350" b="1" dirty="0">
                <a:solidFill>
                  <a:srgbClr val="1E2A4A"/>
                </a:solidFill>
                <a:latin typeface="Calibri" pitchFamily="34" charset="0"/>
                <a:ea typeface="Calibri" pitchFamily="34" charset="-122"/>
                <a:cs typeface="Calibri" pitchFamily="34" charset="-120"/>
              </a:rPr>
              <a:t>No vendor lock-in</a:t>
            </a:r>
            <a:endParaRPr lang="en-US" sz="1350" dirty="0"/>
          </a:p>
        </p:txBody>
      </p:sp>
      <p:sp>
        <p:nvSpPr>
          <p:cNvPr id="16" name="Text 14"/>
          <p:cNvSpPr/>
          <p:nvPr/>
        </p:nvSpPr>
        <p:spPr>
          <a:xfrm>
            <a:off x="4572000" y="4873752"/>
            <a:ext cx="6492240" cy="841248"/>
          </a:xfrm>
          <a:prstGeom prst="rect">
            <a:avLst/>
          </a:prstGeom>
          <a:noFill/>
          <a:ln/>
        </p:spPr>
        <p:txBody>
          <a:bodyPr wrap="square" lIns="0" tIns="0" rIns="0" bIns="0" rtlCol="0" anchor="t"/>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No dependency on a specific cloud provider or proprietary service.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A4A"/>
        </a:solidFill>
      </p:bgPr>
    </p:bg>
    <p:spTree>
      <p:nvGrpSpPr>
        <p:cNvPr id="1" name=""/>
        <p:cNvGrpSpPr/>
        <p:nvPr/>
      </p:nvGrpSpPr>
      <p:grpSpPr>
        <a:xfrm>
          <a:off x="0" y="0"/>
          <a:ext cx="0" cy="0"/>
          <a:chOff x="0" y="0"/>
          <a:chExt cx="0" cy="0"/>
        </a:xfrm>
      </p:grpSpPr>
      <p:sp>
        <p:nvSpPr>
          <p:cNvPr id="2" name="Text 0"/>
          <p:cNvSpPr/>
          <p:nvPr/>
        </p:nvSpPr>
        <p:spPr>
          <a:xfrm>
            <a:off x="685800" y="2651760"/>
            <a:ext cx="10058400" cy="914400"/>
          </a:xfrm>
          <a:prstGeom prst="rect">
            <a:avLst/>
          </a:prstGeom>
          <a:noFill/>
          <a:ln/>
        </p:spPr>
        <p:txBody>
          <a:bodyPr wrap="square" lIns="0" tIns="0" rIns="0" bIns="0" rtlCol="0" anchor="ctr"/>
          <a:lstStyle/>
          <a:p>
            <a:pPr indent="0" marL="0">
              <a:lnSpc>
                <a:spcPct val="120000"/>
              </a:lnSpc>
              <a:buNone/>
            </a:pPr>
            <a:r>
              <a:rPr lang="en-US" sz="2800" b="1" dirty="0">
                <a:solidFill>
                  <a:srgbClr val="FFFFFF"/>
                </a:solidFill>
                <a:latin typeface="Calibri" pitchFamily="34" charset="0"/>
                <a:ea typeface="Calibri" pitchFamily="34" charset="-122"/>
                <a:cs typeface="Calibri" pitchFamily="34" charset="-120"/>
              </a:rPr>
              <a:t>Centralized visibility and control over your device fleet</a:t>
            </a:r>
            <a:endParaRPr lang="en-US" sz="2800" dirty="0"/>
          </a:p>
        </p:txBody>
      </p:sp>
      <p:sp>
        <p:nvSpPr>
          <p:cNvPr id="3" name="Text 1"/>
          <p:cNvSpPr/>
          <p:nvPr/>
        </p:nvSpPr>
        <p:spPr>
          <a:xfrm>
            <a:off x="685800" y="3611880"/>
            <a:ext cx="8686800" cy="640080"/>
          </a:xfrm>
          <a:prstGeom prst="rect">
            <a:avLst/>
          </a:prstGeom>
          <a:noFill/>
          <a:ln/>
        </p:spPr>
        <p:txBody>
          <a:bodyPr wrap="square" lIns="0" tIns="0" rIns="0" bIns="0" rtlCol="0" anchor="ctr"/>
          <a:lstStyle/>
          <a:p>
            <a:pPr indent="0" marL="0">
              <a:lnSpc>
                <a:spcPct val="130000"/>
              </a:lnSpc>
              <a:buNone/>
            </a:pPr>
            <a:r>
              <a:rPr lang="en-US" sz="1400" dirty="0">
                <a:solidFill>
                  <a:srgbClr val="B9C4D6"/>
                </a:solidFill>
                <a:latin typeface="Calibri" pitchFamily="34" charset="0"/>
                <a:ea typeface="Calibri" pitchFamily="34" charset="-122"/>
                <a:cs typeface="Calibri" pitchFamily="34" charset="-120"/>
              </a:rPr>
              <a:t>Built on standard technology, secured at every layer, and deployable on infrastructure you own.</a:t>
            </a:r>
            <a:endParaRPr lang="en-US" sz="1400" dirty="0"/>
          </a:p>
        </p:txBody>
      </p:sp>
      <p:sp>
        <p:nvSpPr>
          <p:cNvPr id="4" name="Text 2"/>
          <p:cNvSpPr/>
          <p:nvPr/>
        </p:nvSpPr>
        <p:spPr>
          <a:xfrm>
            <a:off x="685800" y="5989320"/>
            <a:ext cx="9144000" cy="320040"/>
          </a:xfrm>
          <a:prstGeom prst="rect">
            <a:avLst/>
          </a:prstGeom>
          <a:noFill/>
          <a:ln/>
        </p:spPr>
        <p:txBody>
          <a:bodyPr wrap="square" lIns="0" tIns="0" rIns="0" bIns="0" rtlCol="0" anchor="ctr"/>
          <a:lstStyle/>
          <a:p>
            <a:pPr indent="0" marL="0">
              <a:buNone/>
            </a:pPr>
            <a:r>
              <a:rPr lang="en-US" sz="1100" dirty="0">
                <a:solidFill>
                  <a:srgbClr val="8291AB"/>
                </a:solidFill>
                <a:latin typeface="Calibri" pitchFamily="34" charset="0"/>
                <a:ea typeface="Calibri" pitchFamily="34" charset="-122"/>
                <a:cs typeface="Calibri" pitchFamily="34" charset="-120"/>
              </a:rPr>
              <a:t>Next: Deployment Guide  ·  Deployment Requirements  ·  User Manual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2026-08-12T10:32:14Z</dcterms:created>
  <dcterms:modified xsi:type="dcterms:W3CDTF">2026-08-12T10:32:14Z</dcterms:modified>
</cp:coreProperties>
</file>